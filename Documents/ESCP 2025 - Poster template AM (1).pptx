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</p:sldIdLst>
  <p:sldSz cx="51435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Motiv-Office-2013–20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3F1485-32B9-4441-8941-88185BB3F4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-title-Úvodní-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D65EA1-A3F9-40AD-BDED-264FC9C629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1703160" y="8474760"/>
            <a:ext cx="1735200" cy="486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&lt;pied de page&gt;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3632040" y="8474760"/>
            <a:ext cx="1156680" cy="486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4D9A5E-2A63-4C3B-BFA6-FB42BEA0C8C0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&lt;numéro&gt;</a:t>
            </a:fld>
            <a:endParaRPr b="0" lang="fr-FR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352800" y="8474760"/>
            <a:ext cx="1156680" cy="486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4"/>
          </p:nvPr>
        </p:nvSpPr>
        <p:spPr>
          <a:xfrm>
            <a:off x="1703160" y="8474760"/>
            <a:ext cx="1735200" cy="486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5"/>
          </p:nvPr>
        </p:nvSpPr>
        <p:spPr>
          <a:xfrm>
            <a:off x="3632040" y="8474760"/>
            <a:ext cx="1156680" cy="486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9E8B90-51C1-44B1-A76F-56138ECC9AC7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b="0" lang="fr-FR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6"/>
          </p:nvPr>
        </p:nvSpPr>
        <p:spPr>
          <a:xfrm>
            <a:off x="352800" y="8474760"/>
            <a:ext cx="1156680" cy="486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257040" y="364680"/>
            <a:ext cx="462888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257040" y="2139480"/>
            <a:ext cx="462888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mailto:thomas.husson@aphp.fr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2" descr="Obsah obrázku text, snímek obrazovky, panoráma&#10;&#10;Obsah generovaný pomocí AI může být nesprávný."/>
          <p:cNvPicPr/>
          <p:nvPr/>
        </p:nvPicPr>
        <p:blipFill>
          <a:blip r:embed="rId1"/>
          <a:stretch/>
        </p:blipFill>
        <p:spPr>
          <a:xfrm>
            <a:off x="0" y="0"/>
            <a:ext cx="5142600" cy="9900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1" name="ZoneTexte 6"/>
          <p:cNvSpPr/>
          <p:nvPr/>
        </p:nvSpPr>
        <p:spPr>
          <a:xfrm>
            <a:off x="0" y="1143000"/>
            <a:ext cx="51426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Thomas Husson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Charles Sabbagh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2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Antoine Cazelles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Gilles Manceau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Mehdi Karoui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Arnaud Alves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3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Antoine Mariani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0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Hôpital Européen Georges Pompidou, Paris, France (Contact : </a:t>
            </a:r>
            <a:r>
              <a:rPr b="0" lang="fr-FR" sz="700" strike="noStrike" u="sng">
                <a:solidFill>
                  <a:srgbClr val="0000ee"/>
                </a:solidFill>
                <a:effectLst/>
                <a:uFillTx/>
                <a:latin typeface="Ubuntu"/>
                <a:ea typeface="Calibri"/>
                <a:hlinkClick r:id="rId2"/>
              </a:rPr>
              <a:t>thomas.husson@aphp.fr</a:t>
            </a:r>
            <a:r>
              <a:rPr b="0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 / </a:t>
            </a:r>
            <a:r>
              <a:rPr b="0" lang="fr-FR" sz="700" strike="noStrike" u="sng">
                <a:solidFill>
                  <a:srgbClr val="2a6099"/>
                </a:solidFill>
                <a:effectLst/>
                <a:uFillTx/>
                <a:latin typeface="Ubuntu"/>
                <a:ea typeface="Calibri"/>
              </a:rPr>
              <a:t>antoine.mariani@aphp.fr</a:t>
            </a:r>
            <a:r>
              <a:rPr b="0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)</a:t>
            </a:r>
            <a:br>
              <a:rPr sz="700"/>
            </a:br>
            <a:r>
              <a:rPr b="0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2</a:t>
            </a:r>
            <a:r>
              <a:rPr b="0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CHU d’Amiens, Amiens, France</a:t>
            </a:r>
            <a:br>
              <a:rPr sz="700"/>
            </a:br>
            <a:r>
              <a:rPr b="0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3</a:t>
            </a:r>
            <a:r>
              <a:rPr b="0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CHU de Caen, Caen, France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Rectangle 85"/>
          <p:cNvSpPr/>
          <p:nvPr/>
        </p:nvSpPr>
        <p:spPr>
          <a:xfrm>
            <a:off x="360" y="1656360"/>
            <a:ext cx="5142600" cy="17856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INTRODUCTION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Rectangle 86"/>
          <p:cNvSpPr/>
          <p:nvPr/>
        </p:nvSpPr>
        <p:spPr>
          <a:xfrm rot="21596400">
            <a:off x="360" y="2269440"/>
            <a:ext cx="5142600" cy="1792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OBJECTIVE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ectangle 87"/>
          <p:cNvSpPr/>
          <p:nvPr/>
        </p:nvSpPr>
        <p:spPr>
          <a:xfrm>
            <a:off x="360" y="2447640"/>
            <a:ext cx="514260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Evaluate laparoscopic Hartmann for generalized diverticular peritonitis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88"/>
          <p:cNvSpPr/>
          <p:nvPr/>
        </p:nvSpPr>
        <p:spPr>
          <a:xfrm>
            <a:off x="107280" y="2700000"/>
            <a:ext cx="1439280" cy="52524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LAPAROSCOPIC HARTMANN (HP)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89"/>
          <p:cNvSpPr/>
          <p:nvPr/>
        </p:nvSpPr>
        <p:spPr>
          <a:xfrm>
            <a:off x="2446560" y="2697480"/>
            <a:ext cx="2620800" cy="549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OPEN SIGMOIDECTOMY  PRIMARY ANASTOMOSIS  DIVERTING ILEOSTOMY (SPA)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Rectangle 90"/>
          <p:cNvSpPr/>
          <p:nvPr/>
        </p:nvSpPr>
        <p:spPr>
          <a:xfrm>
            <a:off x="1440360" y="2839320"/>
            <a:ext cx="11800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i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vs.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Rectangle 91"/>
          <p:cNvSpPr/>
          <p:nvPr/>
        </p:nvSpPr>
        <p:spPr>
          <a:xfrm>
            <a:off x="108000" y="3297960"/>
            <a:ext cx="4960440" cy="215280"/>
          </a:xfrm>
          <a:prstGeom prst="rect">
            <a:avLst/>
          </a:prstGeom>
          <a:solidFill>
            <a:srgbClr val="dde8cb"/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Primary endpoint = Stoma-Free Survival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angle 92"/>
          <p:cNvSpPr/>
          <p:nvPr/>
        </p:nvSpPr>
        <p:spPr>
          <a:xfrm>
            <a:off x="720" y="3779640"/>
            <a:ext cx="514368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National database of 6893 surgeries for diverticular disease (2010-2021)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Rectangle 93"/>
          <p:cNvSpPr/>
          <p:nvPr/>
        </p:nvSpPr>
        <p:spPr>
          <a:xfrm>
            <a:off x="107640" y="4356360"/>
            <a:ext cx="1619280" cy="28728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Open SPA : n = 146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Rectangle 94"/>
          <p:cNvSpPr/>
          <p:nvPr/>
        </p:nvSpPr>
        <p:spPr>
          <a:xfrm>
            <a:off x="1864080" y="4140000"/>
            <a:ext cx="1446480" cy="358920"/>
          </a:xfrm>
          <a:prstGeom prst="rect">
            <a:avLst/>
          </a:prstGeom>
          <a:solidFill>
            <a:srgbClr val="eeeeee"/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1:1 PROPENSITY SCORE MATCHING 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95"/>
          <p:cNvSpPr/>
          <p:nvPr/>
        </p:nvSpPr>
        <p:spPr>
          <a:xfrm>
            <a:off x="360" y="3563640"/>
            <a:ext cx="5142600" cy="216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PATIENTS AND METHODS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96"/>
          <p:cNvSpPr/>
          <p:nvPr/>
        </p:nvSpPr>
        <p:spPr>
          <a:xfrm>
            <a:off x="360" y="4715640"/>
            <a:ext cx="5142600" cy="2152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RESULTS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ectangle 97"/>
          <p:cNvSpPr/>
          <p:nvPr/>
        </p:nvSpPr>
        <p:spPr>
          <a:xfrm>
            <a:off x="1655280" y="7595640"/>
            <a:ext cx="935280" cy="17928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i="1" lang="en-US" sz="7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Log rank p &lt; 0.001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7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Cox HR = 1,84 p &lt; 0.001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ectangle 98"/>
          <p:cNvSpPr/>
          <p:nvPr/>
        </p:nvSpPr>
        <p:spPr>
          <a:xfrm>
            <a:off x="360" y="4931640"/>
            <a:ext cx="5142600" cy="215280"/>
          </a:xfrm>
          <a:prstGeom prst="rect">
            <a:avLst/>
          </a:prstGeom>
          <a:solidFill>
            <a:srgbClr val="fffae7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Postoperative outcomes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99"/>
          <p:cNvSpPr/>
          <p:nvPr/>
        </p:nvSpPr>
        <p:spPr>
          <a:xfrm>
            <a:off x="1799280" y="5147640"/>
            <a:ext cx="3342600" cy="21528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MORBIDITY : no difference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Rectangle 100"/>
          <p:cNvSpPr/>
          <p:nvPr/>
        </p:nvSpPr>
        <p:spPr>
          <a:xfrm>
            <a:off x="720" y="5147640"/>
            <a:ext cx="1655280" cy="21528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CONVERSION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ectangle 101"/>
          <p:cNvSpPr/>
          <p:nvPr/>
        </p:nvSpPr>
        <p:spPr>
          <a:xfrm>
            <a:off x="720" y="5364000"/>
            <a:ext cx="1655280" cy="17892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50% in LHP group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ctangle 102"/>
          <p:cNvSpPr/>
          <p:nvPr/>
        </p:nvSpPr>
        <p:spPr>
          <a:xfrm>
            <a:off x="720" y="5544000"/>
            <a:ext cx="1655280" cy="21528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LENGTH OF STAY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" name="Tableau 103"/>
          <p:cNvGraphicFramePr/>
          <p:nvPr/>
        </p:nvGraphicFramePr>
        <p:xfrm>
          <a:off x="1801440" y="5365440"/>
          <a:ext cx="3340800" cy="982440"/>
        </p:xfrm>
        <a:graphic>
          <a:graphicData uri="http://schemas.openxmlformats.org/drawingml/2006/table">
            <a:tbl>
              <a:tblPr/>
              <a:tblGrid>
                <a:gridCol w="767160"/>
                <a:gridCol w="1238400"/>
                <a:gridCol w="776520"/>
                <a:gridCol w="559080"/>
              </a:tblGrid>
              <a:tr h="3355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  <a:ea typeface="DejaVu Sans"/>
                      </a:endParaRPr>
                    </a:p>
                  </a:txBody>
                  <a:tcPr anchor="t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000" rIns="1800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Laparoscopic HP</a:t>
                      </a:r>
                      <a:endParaRPr b="0" lang="fr-F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N=101</a:t>
                      </a:r>
                      <a:endParaRPr b="0" lang="fr-F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000" marR="18000" marT="18000" marB="18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000" rIns="1800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Open SPA</a:t>
                      </a:r>
                      <a:endParaRPr b="0" lang="fr-F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N=101</a:t>
                      </a:r>
                      <a:endParaRPr b="0" lang="fr-F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000" marR="18000" marT="18000" marB="18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000" rIns="1800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i="1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p value</a:t>
                      </a:r>
                      <a:endParaRPr b="0" lang="fr-F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000" marR="18000" marT="18000" marB="18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Mortality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5 (5.0%)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3 (3.0%)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0.7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06000">
                <a:tc>
                  <a:txBody>
                    <a:bodyPr lIns="36000" rIns="36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Dindo≥ 2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27 (27%)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26 (26%)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  <a:ea typeface="DejaVu Sans"/>
                        </a:rPr>
                        <a:t>&gt;0.9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1" name="Image 104" descr=""/>
          <p:cNvPicPr/>
          <p:nvPr/>
        </p:nvPicPr>
        <p:blipFill>
          <a:blip r:embed="rId3"/>
          <a:srcRect l="8538" t="0" r="86664" b="37826"/>
          <a:stretch/>
        </p:blipFill>
        <p:spPr>
          <a:xfrm>
            <a:off x="71280" y="6557040"/>
            <a:ext cx="169920" cy="139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Rectangle 105"/>
          <p:cNvSpPr/>
          <p:nvPr/>
        </p:nvSpPr>
        <p:spPr>
          <a:xfrm>
            <a:off x="360" y="6335640"/>
            <a:ext cx="5142600" cy="215280"/>
          </a:xfrm>
          <a:prstGeom prst="rect">
            <a:avLst/>
          </a:prstGeom>
          <a:solidFill>
            <a:srgbClr val="fffae7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Stoma-Free Survival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106" descr=""/>
          <p:cNvPicPr/>
          <p:nvPr/>
        </p:nvPicPr>
        <p:blipFill>
          <a:blip r:embed="rId4"/>
          <a:srcRect l="0" t="0" r="415" b="0"/>
          <a:stretch/>
        </p:blipFill>
        <p:spPr>
          <a:xfrm>
            <a:off x="215280" y="6771240"/>
            <a:ext cx="2663280" cy="12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Rectangle 107"/>
          <p:cNvSpPr/>
          <p:nvPr/>
        </p:nvSpPr>
        <p:spPr>
          <a:xfrm>
            <a:off x="360" y="1832400"/>
            <a:ext cx="514260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72000" indent="-7200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Laparoscopy : well-established for elective / uncomplicated diverticulitis (Hinchey I-II)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" indent="-7200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Debated for generalized peritonitis from perforated diverticulitis (Hinchey III-IV)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Rectangle 108"/>
          <p:cNvSpPr/>
          <p:nvPr/>
        </p:nvSpPr>
        <p:spPr>
          <a:xfrm>
            <a:off x="720" y="5760000"/>
            <a:ext cx="1655280" cy="17892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12d </a:t>
            </a: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vs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 10d ; NS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ZoneTexte 9"/>
          <p:cNvSpPr/>
          <p:nvPr/>
        </p:nvSpPr>
        <p:spPr>
          <a:xfrm>
            <a:off x="2699280" y="-4320"/>
            <a:ext cx="2447640" cy="1145160"/>
          </a:xfrm>
          <a:prstGeom prst="rect">
            <a:avLst/>
          </a:pr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36000" rIns="36000" tIns="36000" bIns="36000" anchor="ctr">
            <a:spAutoFit/>
          </a:bodyPr>
          <a:p>
            <a:pPr algn="ctr" defTabSz="914400">
              <a:lnSpc>
                <a:spcPct val="100000"/>
              </a:lnSpc>
              <a:spcBef>
                <a:spcPts val="57"/>
              </a:spcBef>
            </a:pPr>
            <a:r>
              <a:rPr b="1" lang="en-US" sz="1200" strike="noStrike" u="none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LAPAROSCOPIC HARTMANN : </a:t>
            </a:r>
            <a:br>
              <a:rPr sz="1200"/>
            </a:br>
            <a:r>
              <a:rPr b="1" lang="en-US" sz="1200" strike="noStrike" u="none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A GOOD OPTION FOR ACUTE COLONIC DIVERTICULITIS WITH GENERALIZED PERITONITIS ?</a:t>
            </a:r>
            <a:r>
              <a:rPr b="1" lang="en-US" sz="1300" strike="noStrike" u="none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 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57"/>
              </a:spcBef>
            </a:pPr>
            <a:r>
              <a:rPr b="1" lang="en-US" sz="1050" strike="noStrike" u="none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A comparative matched cohort study using a national database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110" descr=""/>
          <p:cNvPicPr/>
          <p:nvPr/>
        </p:nvPicPr>
        <p:blipFill>
          <a:blip r:embed="rId5"/>
          <a:stretch/>
        </p:blipFill>
        <p:spPr>
          <a:xfrm>
            <a:off x="1915920" y="1356480"/>
            <a:ext cx="2159280" cy="2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Rectangle 111"/>
          <p:cNvSpPr/>
          <p:nvPr/>
        </p:nvSpPr>
        <p:spPr>
          <a:xfrm>
            <a:off x="112680" y="4032360"/>
            <a:ext cx="1619280" cy="28692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Laparoscopic HP : n = 138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112"/>
          <p:cNvSpPr/>
          <p:nvPr/>
        </p:nvSpPr>
        <p:spPr>
          <a:xfrm>
            <a:off x="3419640" y="4032000"/>
            <a:ext cx="1619280" cy="28728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Laparoscopic HP : n = 101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113"/>
          <p:cNvSpPr/>
          <p:nvPr/>
        </p:nvSpPr>
        <p:spPr>
          <a:xfrm>
            <a:off x="3419640" y="4356000"/>
            <a:ext cx="1619280" cy="28728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Open SPA : n = 101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ectangle 114"/>
          <p:cNvSpPr/>
          <p:nvPr/>
        </p:nvSpPr>
        <p:spPr>
          <a:xfrm>
            <a:off x="2879640" y="6551640"/>
            <a:ext cx="2263320" cy="21528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Impact of conversion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ectangle 115"/>
          <p:cNvSpPr/>
          <p:nvPr/>
        </p:nvSpPr>
        <p:spPr>
          <a:xfrm>
            <a:off x="360" y="6551640"/>
            <a:ext cx="2879280" cy="21528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Open SPA vs Laparoscopic HP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116" descr=""/>
          <p:cNvPicPr/>
          <p:nvPr/>
        </p:nvPicPr>
        <p:blipFill>
          <a:blip r:embed="rId6"/>
          <a:stretch/>
        </p:blipFill>
        <p:spPr>
          <a:xfrm>
            <a:off x="0" y="7091640"/>
            <a:ext cx="96120" cy="67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Image 117" descr=""/>
          <p:cNvPicPr/>
          <p:nvPr/>
        </p:nvPicPr>
        <p:blipFill>
          <a:blip r:embed="rId7"/>
          <a:srcRect l="2853" t="0" r="0" b="0"/>
          <a:stretch/>
        </p:blipFill>
        <p:spPr>
          <a:xfrm>
            <a:off x="2891880" y="6890040"/>
            <a:ext cx="225000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Rectangle 118"/>
          <p:cNvSpPr/>
          <p:nvPr/>
        </p:nvSpPr>
        <p:spPr>
          <a:xfrm>
            <a:off x="720" y="7992000"/>
            <a:ext cx="5142600" cy="2152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CONCLUSION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119"/>
          <p:cNvSpPr/>
          <p:nvPr/>
        </p:nvSpPr>
        <p:spPr>
          <a:xfrm>
            <a:off x="720" y="5939640"/>
            <a:ext cx="1655280" cy="21528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INCISIONAL HERNIA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ectangle 120"/>
          <p:cNvSpPr/>
          <p:nvPr/>
        </p:nvSpPr>
        <p:spPr>
          <a:xfrm>
            <a:off x="720" y="6155640"/>
            <a:ext cx="1655280" cy="178920"/>
          </a:xfrm>
          <a:prstGeom prst="rect">
            <a:avLst/>
          </a:prstGeom>
          <a:solidFill>
            <a:srgbClr val="ffffff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19% </a:t>
            </a: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vs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DejaVu Sans"/>
              </a:rPr>
              <a:t>21% ; p = 0.9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Rectangle 121"/>
          <p:cNvSpPr/>
          <p:nvPr/>
        </p:nvSpPr>
        <p:spPr>
          <a:xfrm flipV="1">
            <a:off x="2880000" y="6766560"/>
            <a:ext cx="2263320" cy="122328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Ubuntu"/>
              <a:ea typeface="DejaVu Sans"/>
            </a:endParaRPr>
          </a:p>
        </p:txBody>
      </p:sp>
      <p:sp>
        <p:nvSpPr>
          <p:cNvPr id="49" name="Rectangle 122"/>
          <p:cNvSpPr/>
          <p:nvPr/>
        </p:nvSpPr>
        <p:spPr>
          <a:xfrm flipV="1">
            <a:off x="360" y="6766560"/>
            <a:ext cx="2879280" cy="122328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Ubuntu"/>
              <a:ea typeface="DejaVu Sans"/>
            </a:endParaRPr>
          </a:p>
        </p:txBody>
      </p:sp>
      <p:sp>
        <p:nvSpPr>
          <p:cNvPr id="50" name="Rectangle 123"/>
          <p:cNvSpPr/>
          <p:nvPr/>
        </p:nvSpPr>
        <p:spPr>
          <a:xfrm>
            <a:off x="360" y="8208000"/>
            <a:ext cx="5142600" cy="43128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72000" indent="-7200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Despite similar perioperative outcomes, Laparoscopic Hartmann </a:t>
            </a:r>
            <a:r>
              <a:rPr b="1" lang="en-US" sz="95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leads to decreased stoma-free survival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 than Open Sigmoïdectomy with Primary Anastomosis and Ileostomy </a:t>
            </a:r>
            <a:endParaRPr b="0" lang="fr-F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124"/>
          <p:cNvSpPr/>
          <p:nvPr/>
        </p:nvSpPr>
        <p:spPr>
          <a:xfrm>
            <a:off x="360" y="8640000"/>
            <a:ext cx="5142600" cy="503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marL="72000" indent="-7200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Open sigmoidectomy with primary anastomosis and protective ileostomy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remains the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reference procedure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 for Hinchey III–IV diverticular peritonitis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ZoneTexte 1"/>
          <p:cNvSpPr/>
          <p:nvPr/>
        </p:nvSpPr>
        <p:spPr>
          <a:xfrm>
            <a:off x="4552920" y="7043760"/>
            <a:ext cx="29196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520" bIns="3852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5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NS</a:t>
            </a:r>
            <a:endParaRPr b="0" lang="fr-FR" sz="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ZoneTexte 44"/>
          <p:cNvSpPr/>
          <p:nvPr/>
        </p:nvSpPr>
        <p:spPr>
          <a:xfrm>
            <a:off x="3970440" y="6942240"/>
            <a:ext cx="4615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520" bIns="3852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5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 = 0,01</a:t>
            </a:r>
            <a:endParaRPr b="0" lang="fr-FR" sz="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" name="Connecteur droit avec flèche 3"/>
          <p:cNvCxnSpPr/>
          <p:nvPr/>
        </p:nvCxnSpPr>
        <p:spPr>
          <a:xfrm>
            <a:off x="4785480" y="7039080"/>
            <a:ext cx="720" cy="168480"/>
          </a:xfrm>
          <a:prstGeom prst="straightConnector1">
            <a:avLst/>
          </a:prstGeom>
          <a:ln w="3175">
            <a:solidFill>
              <a:srgbClr val="000000"/>
            </a:solidFill>
            <a:round/>
            <a:headEnd len="sm" type="arrow" w="sm"/>
            <a:tailEnd len="sm" type="arrow" w="sm"/>
          </a:ln>
        </p:spPr>
      </p:cxnSp>
      <p:cxnSp>
        <p:nvCxnSpPr>
          <p:cNvPr id="55" name="Connecteur droit avec flèche 51"/>
          <p:cNvCxnSpPr/>
          <p:nvPr/>
        </p:nvCxnSpPr>
        <p:spPr>
          <a:xfrm>
            <a:off x="4352040" y="6941880"/>
            <a:ext cx="720" cy="168480"/>
          </a:xfrm>
          <a:prstGeom prst="straightConnector1">
            <a:avLst/>
          </a:prstGeom>
          <a:ln w="3175">
            <a:solidFill>
              <a:srgbClr val="000000"/>
            </a:solidFill>
            <a:round/>
            <a:headEnd len="sm" type="arrow" w="sm"/>
            <a:tailEnd len="sm" type="arrow" w="sm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</TotalTime>
  <Application>LibreOffice/25.8.0.4$MacOSX_AARCH64 LibreOffice_project/48f00303701489684e67c38c28aff00cd5929e67</Application>
  <AppVersion>15.0000</AppVersion>
  <Words>315</Words>
  <Paragraphs>52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2020-08-26T11:17:44Z</dcterms:created>
  <dc:creator>Kristýna Slavíčková</dc:creator>
  <dc:description/>
  <dc:language>fr-FR</dc:language>
  <cp:lastModifiedBy/>
  <dcterms:modified xsi:type="dcterms:W3CDTF">2025-09-02T17:14:05Z</dcterms:modified>
  <cp:revision>10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0x010100AE032575AFEF6A468913E3ECE28A154D</vt:lpwstr>
  </property>
  <property fmtid="{D5CDD505-2E9C-101B-9397-08002B2CF9AE}" pid="3" name="MediaServiceImageTags">
    <vt:lpwstr/>
  </property>
  <property fmtid="{D5CDD505-2E9C-101B-9397-08002B2CF9AE}" pid="4" name="PresentationFormat">
    <vt:lpwstr>Affichage à l'écran (16:9)</vt:lpwstr>
  </property>
  <property fmtid="{D5CDD505-2E9C-101B-9397-08002B2CF9AE}" pid="5" name="Slides">
    <vt:i4>1</vt:i4>
  </property>
</Properties>
</file>