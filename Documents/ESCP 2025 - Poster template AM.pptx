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3" r:id="rId4"/>
    <p:sldMasterId id="2147483654" r:id="rId5"/>
    <p:sldMasterId id="2147483655" r:id="rId6"/>
    <p:sldMasterId id="2147483656" r:id="rId7"/>
    <p:sldMasterId id="2147483657" r:id="rId8"/>
    <p:sldMasterId id="2147483658" r:id="rId9"/>
    <p:sldMasterId id="2147483659" r:id="rId10"/>
    <p:sldMasterId id="2147483660" r:id="rId11"/>
    <p:sldMasterId id="2147483661" r:id="rId12"/>
  </p:sldMasterIdLst>
  <p:sldIdLst>
    <p:sldId id="257" r:id="rId13"/>
  </p:sldIdLst>
  <p:sldSz cx="5143500" cy="9144000" type="screen16x9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C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39" d="100"/>
          <a:sy n="239" d="100"/>
        </p:scale>
        <p:origin x="1050" y="-4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Motiv-Office-2013–20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85200" y="1496160"/>
            <a:ext cx="4371840" cy="31834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4224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194688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325116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/>
          </p:nvPr>
        </p:nvSpPr>
        <p:spPr>
          <a:xfrm>
            <a:off x="64224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/>
          </p:nvPr>
        </p:nvSpPr>
        <p:spPr>
          <a:xfrm>
            <a:off x="194688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/>
          </p:nvPr>
        </p:nvSpPr>
        <p:spPr>
          <a:xfrm>
            <a:off x="325116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DB8E543-2D11-4F78-BA92-AFAC91C76EBF}" type="slidenum">
              <a:t>‹N°›</a:t>
            </a:fld>
            <a:endParaRPr/>
          </a:p>
        </p:txBody>
      </p:sp>
      <p:sp>
        <p:nvSpPr>
          <p:cNvPr id="4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Layout1-title-Úvodní-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85200" y="1496160"/>
            <a:ext cx="4371840" cy="31834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4224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194688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325116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64224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/>
          </p:nvPr>
        </p:nvSpPr>
        <p:spPr>
          <a:xfrm>
            <a:off x="194688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7"/>
          <p:cNvSpPr>
            <a:spLocks noGrp="1"/>
          </p:cNvSpPr>
          <p:nvPr>
            <p:ph/>
          </p:nvPr>
        </p:nvSpPr>
        <p:spPr>
          <a:xfrm>
            <a:off x="325116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indent="0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BB52720-1234-4F82-B471-4EE62C404E3B}" type="slidenum"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247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2800" y="2433960"/>
            <a:ext cx="4436280" cy="5801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58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5920" lvl="1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2960" lvl="2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0" lvl="3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7400" lvl="4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DCD9646-408E-4998-B958-BB3B9C56C7F5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C31788-BA64-4EFD-9503-ED04EEA438B7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85200" y="1496160"/>
            <a:ext cx="4371840" cy="31834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 anchorCtr="1">
            <a:norm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cs-CZ" sz="338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4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053E58B-0382-4D3F-B784-9760602CF900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5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626EEE-167F-436A-8041-8B70B683D7C9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256320" y="2139120"/>
            <a:ext cx="4628520" cy="5302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247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352800" y="2433960"/>
            <a:ext cx="4436280" cy="5801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lang="cs-CZ" sz="158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5920" lvl="1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2960" lvl="2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0" lvl="3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7400" lvl="4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5A69EFA-9D21-44A9-8B29-AAE8EB2D2412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204DF4-F082-4A50-BB82-26E70E6804E5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body"/>
          </p:nvPr>
        </p:nvSpPr>
        <p:spPr>
          <a:xfrm>
            <a:off x="256680" y="2139480"/>
            <a:ext cx="4628880" cy="53031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7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57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2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50280" y="2279160"/>
            <a:ext cx="4436280" cy="380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338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50280" y="6118920"/>
            <a:ext cx="4436280" cy="20001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0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0B027FF-3B4B-46A2-AA04-24D7EF1737CD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1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2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EC5A4C-9403-4B38-A874-64E1A8008CAB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247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52800" y="2433960"/>
            <a:ext cx="2185920" cy="5801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lang="cs-CZ" sz="158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5920" lvl="1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2960" lvl="2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0" lvl="3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7400" lvl="4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title"/>
          </p:nvPr>
        </p:nvSpPr>
        <p:spPr>
          <a:xfrm>
            <a:off x="2603160" y="2433960"/>
            <a:ext cx="2185920" cy="5801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lang="cs-CZ" sz="158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5920" lvl="1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2960" lvl="2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0" lvl="3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7400" lvl="4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3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5AD9BC5-60A2-468C-A922-DBD9209AE3C2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4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5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D401D8-C1EE-4DC6-A76A-57F4A31E221A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256680" y="2139480"/>
            <a:ext cx="4628880" cy="53031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7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57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2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5352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247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53520" y="2241360"/>
            <a:ext cx="2175840" cy="1098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3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title"/>
          </p:nvPr>
        </p:nvSpPr>
        <p:spPr>
          <a:xfrm>
            <a:off x="353520" y="3339720"/>
            <a:ext cx="2175840" cy="49129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lang="cs-CZ" sz="158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5920" lvl="1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2960" lvl="2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0" lvl="3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7400" lvl="4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2603160" y="2241360"/>
            <a:ext cx="2186640" cy="1098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90000"/>
              </a:lnSpc>
              <a:spcBef>
                <a:spcPts val="564"/>
              </a:spcBef>
            </a:pPr>
            <a:r>
              <a:rPr lang="cs-CZ" sz="13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title"/>
          </p:nvPr>
        </p:nvSpPr>
        <p:spPr>
          <a:xfrm>
            <a:off x="2603160" y="3339720"/>
            <a:ext cx="2186640" cy="49129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lang="cs-CZ" sz="158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5920" lvl="1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2960" lvl="2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0" lvl="3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7400" lvl="4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6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C076DD8-CC29-4422-9C9F-EE57DA718580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17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18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4495BE-095E-4816-9DD1-8B53C18BB0D7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247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19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B65AAB8-5B0D-4BB9-B4AF-D3C35E62EC21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0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1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E1828D-6F6E-4BD3-8DF1-BF2CF00074AD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256680" y="2139480"/>
            <a:ext cx="4628880" cy="53031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7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57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2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dt" idx="22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691647B-3225-4499-BE74-C49B36B2A698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23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24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F82AE9-E419-491E-AA26-657E497AF455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256680" y="364680"/>
            <a:ext cx="4628880" cy="15267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22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256680" y="2139480"/>
            <a:ext cx="4628880" cy="53031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7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57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2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53520" y="609120"/>
            <a:ext cx="1658880" cy="213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18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2185920" y="1316160"/>
            <a:ext cx="2603880" cy="64980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lang="cs-CZ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5920" lvl="1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58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2960" lvl="2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0" lvl="3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7400" lvl="4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353520" y="2743200"/>
            <a:ext cx="1658880" cy="50821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25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51DA63E-4B34-425E-8C0F-60A272BE4FCD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26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27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85EC64-1FD2-4919-85B8-30806676ED6E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53520" y="609120"/>
            <a:ext cx="1658880" cy="213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18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title"/>
          </p:nvPr>
        </p:nvSpPr>
        <p:spPr>
          <a:xfrm>
            <a:off x="2185920" y="1316160"/>
            <a:ext cx="2603880" cy="64980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564"/>
              </a:spcBef>
              <a:buNone/>
            </a:pPr>
            <a:r>
              <a:rPr lang="cs-CZ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Kliknutím na ikonu přidáte obrázek.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353520" y="2743200"/>
            <a:ext cx="1658880" cy="50821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28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6B7319B-D1BD-4DA3-942D-590673E86231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29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0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5FFDD4-B76D-4ADC-8810-F9F9088046CE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247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352800" y="2433960"/>
            <a:ext cx="4436280" cy="5801760"/>
          </a:xfrm>
          <a:prstGeom prst="rect">
            <a:avLst/>
          </a:prstGeom>
          <a:noFill/>
          <a:ln w="12600">
            <a:noFill/>
          </a:ln>
        </p:spPr>
        <p:txBody>
          <a:bodyPr vert="eaVert" lIns="45720" tIns="91440" rIns="45720" bIns="91440" anchor="t">
            <a:normAutofit/>
          </a:bodyPr>
          <a:lstStyle/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58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5920" lvl="1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2960" lvl="2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0" lvl="3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7400" lvl="4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31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C760E8E-A4C7-4159-83AA-C259C9C704A6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32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33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FB50CD-F9D2-4297-B36A-996519864EA8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679920" y="486360"/>
            <a:ext cx="1109160" cy="7749000"/>
          </a:xfrm>
          <a:prstGeom prst="rect">
            <a:avLst/>
          </a:prstGeom>
          <a:noFill/>
          <a:ln w="12600">
            <a:noFill/>
          </a:ln>
        </p:spPr>
        <p:txBody>
          <a:bodyPr vert="eaVert" lIns="45720" tIns="91440" rIns="45720" bIns="91440" anchor="t" anchorCtr="1">
            <a:norm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cs-CZ" sz="247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52800" y="486360"/>
            <a:ext cx="3263040" cy="7749000"/>
          </a:xfrm>
          <a:prstGeom prst="rect">
            <a:avLst/>
          </a:prstGeom>
          <a:noFill/>
          <a:ln w="12600">
            <a:noFill/>
          </a:ln>
        </p:spPr>
        <p:txBody>
          <a:bodyPr vert="eaVert" lIns="45720" tIns="91440" rIns="45720" bIns="91440" anchor="t">
            <a:normAutofit/>
          </a:bodyPr>
          <a:lstStyle/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58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5920" lvl="1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13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2960" lvl="2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1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0" lvl="3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7400" lvl="4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cs-CZ" sz="101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34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8BBE669-1FE4-46CE-9815-160F081B2436}" type="datetime1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02.09.2025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ftr" idx="35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sldNum" idx="36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D66641-D159-43A8-9F33-E1852879A2FA}" type="slidenum">
              <a:rPr lang="cs-CZ" sz="67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‹N°›</a:t>
            </a:fld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mailto:thomas.husson@aphp.fr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Obrázek 2" descr="Obsah obrázku text, snímek obrazovky, panoráma&#10;&#10;Obsah generovaný pomocí AI může být nesprávný."/>
          <p:cNvPicPr/>
          <p:nvPr/>
        </p:nvPicPr>
        <p:blipFill>
          <a:blip r:embed="rId2"/>
          <a:stretch/>
        </p:blipFill>
        <p:spPr>
          <a:xfrm>
            <a:off x="0" y="0"/>
            <a:ext cx="5143320" cy="99072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85" name="ZoneTexte 6"/>
          <p:cNvSpPr/>
          <p:nvPr/>
        </p:nvSpPr>
        <p:spPr>
          <a:xfrm>
            <a:off x="0" y="1142880"/>
            <a:ext cx="5143320" cy="5232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 anchorCtr="1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700" b="1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Thomas Husson</a:t>
            </a:r>
            <a:r>
              <a:rPr lang="fr-FR" sz="700" b="1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lang="fr-FR" sz="700" b="1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Charles Sabbagh</a:t>
            </a:r>
            <a:r>
              <a:rPr lang="fr-FR" sz="700" b="1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2</a:t>
            </a:r>
            <a:r>
              <a:rPr lang="fr-FR" sz="700" b="1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Antoine Cazelles</a:t>
            </a:r>
            <a:r>
              <a:rPr lang="fr-FR" sz="700" b="1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lang="fr-FR" sz="700" b="1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Gilles Manceau</a:t>
            </a:r>
            <a:r>
              <a:rPr lang="fr-FR" sz="700" b="1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lang="fr-FR" sz="700" b="1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Mehdi Karoui</a:t>
            </a:r>
            <a:r>
              <a:rPr lang="fr-FR" sz="700" b="1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lang="fr-FR" sz="700" b="1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Arnaud Alves</a:t>
            </a:r>
            <a:r>
              <a:rPr lang="fr-FR" sz="700" b="1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3</a:t>
            </a:r>
            <a:r>
              <a:rPr lang="fr-FR" sz="700" b="1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Antoine Mariani</a:t>
            </a:r>
            <a:r>
              <a:rPr lang="fr-FR" sz="700" b="1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700" b="0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lang="fr-FR" sz="700" b="0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Hôpital Européen Georges Pompidou, Paris, France (Contact : </a:t>
            </a:r>
            <a:r>
              <a:rPr lang="fr-FR" sz="700" b="0" u="sng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  <a:hlinkClick r:id="rId3"/>
              </a:rPr>
              <a:t>thomas.husson@aphp.fr</a:t>
            </a:r>
            <a:r>
              <a:rPr lang="fr-FR" sz="700" b="0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 / </a:t>
            </a:r>
            <a:r>
              <a:rPr lang="fr-FR" sz="700" b="0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antoine.mariani@aphp.fr)</a:t>
            </a:r>
            <a:br>
              <a:rPr sz="700" dirty="0"/>
            </a:br>
            <a:r>
              <a:rPr lang="fr-FR" sz="700" b="0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2</a:t>
            </a:r>
            <a:r>
              <a:rPr lang="fr-FR" sz="700" b="0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CHU d’Amiens, Amiens, France</a:t>
            </a:r>
            <a:br>
              <a:rPr sz="700" dirty="0"/>
            </a:br>
            <a:r>
              <a:rPr lang="fr-FR" sz="700" b="0" u="none" strike="noStrike" baseline="33000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3</a:t>
            </a:r>
            <a:r>
              <a:rPr lang="fr-FR" sz="700" b="0" u="none" strike="noStrike" dirty="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CHU de Caen, Caen, France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60" y="1656360"/>
            <a:ext cx="5143320" cy="179280"/>
          </a:xfrm>
          <a:prstGeom prst="rect">
            <a:avLst/>
          </a:prstGeom>
          <a:solidFill>
            <a:schemeClr val="bg2">
              <a:lumMod val="6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INTRODUCTION</a:t>
            </a:r>
          </a:p>
        </p:txBody>
      </p:sp>
      <p:sp>
        <p:nvSpPr>
          <p:cNvPr id="87" name="Rectangle 86"/>
          <p:cNvSpPr/>
          <p:nvPr/>
        </p:nvSpPr>
        <p:spPr>
          <a:xfrm rot="21596400">
            <a:off x="360" y="2270160"/>
            <a:ext cx="5143320" cy="180000"/>
          </a:xfrm>
          <a:prstGeom prst="rect">
            <a:avLst/>
          </a:prstGeom>
          <a:solidFill>
            <a:schemeClr val="bg2">
              <a:lumMod val="6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OBJECTIVE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0" y="2447640"/>
            <a:ext cx="5143320" cy="21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US" sz="1100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Evaluate laparoscopic Hartmann for generalized diverticular peritonitis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7280" y="2727654"/>
            <a:ext cx="1440000" cy="49068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LAPAROSCOPIC HARTMANN (HP)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446421" y="2697650"/>
            <a:ext cx="2621659" cy="549547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/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OPEN SIGMOIDECTOMY  PRIMARY ANASTOMOSIS  DIVERTING ILEOSTOMY (SPA)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GillSans"/>
              <a:ea typeface="GillSans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440360" y="2839320"/>
            <a:ext cx="1180800" cy="23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400" b="1" i="1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vs.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2578" y="3297800"/>
            <a:ext cx="3287685" cy="216000"/>
          </a:xfrm>
          <a:prstGeom prst="rect">
            <a:avLst/>
          </a:prstGeom>
          <a:solidFill>
            <a:srgbClr val="DDE8CB"/>
          </a:solidFill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400" b="1" u="none" strike="noStrike" dirty="0" err="1">
                <a:solidFill>
                  <a:srgbClr val="000000"/>
                </a:solidFill>
                <a:effectLst/>
                <a:uFillTx/>
                <a:latin typeface="Ubuntu"/>
              </a:rPr>
              <a:t>Iary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 ENDPOINT = STOMA-FREE SURVIVAL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0" y="3779640"/>
            <a:ext cx="5144400" cy="21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000000"/>
                </a:solidFill>
                <a:latin typeface="Ubuntu"/>
              </a:rPr>
              <a:t>N</a:t>
            </a: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ational database of 6893 surgeries for diverticular disease (2010-2021)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7640" y="4356360"/>
            <a:ext cx="1620000" cy="288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Open SPA : n = 146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64080" y="4140000"/>
            <a:ext cx="1447200" cy="359640"/>
          </a:xfrm>
          <a:prstGeom prst="rect">
            <a:avLst/>
          </a:prstGeom>
          <a:solidFill>
            <a:srgbClr val="EEEEEE"/>
          </a:solidFill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1:1 PROPENSITY SCORE MATCHING 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0" y="3563640"/>
            <a:ext cx="5143320" cy="216000"/>
          </a:xfrm>
          <a:prstGeom prst="rect">
            <a:avLst/>
          </a:prstGeom>
          <a:solidFill>
            <a:schemeClr val="bg2">
              <a:lumMod val="6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PATIENTS AND METHODS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0" y="4715640"/>
            <a:ext cx="5143320" cy="216000"/>
          </a:xfrm>
          <a:prstGeom prst="rect">
            <a:avLst/>
          </a:prstGeom>
          <a:solidFill>
            <a:schemeClr val="bg2">
              <a:lumMod val="6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RESULTS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55280" y="7595640"/>
            <a:ext cx="936000" cy="1800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700" b="0" i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Log rank p &lt; 0.001</a:t>
            </a:r>
          </a:p>
          <a:p>
            <a:r>
              <a:rPr lang="en-US" sz="700" b="0" i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Cox HR = 1,84 p &lt; 0.001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0" y="4931640"/>
            <a:ext cx="5143320" cy="216000"/>
          </a:xfrm>
          <a:prstGeom prst="rect">
            <a:avLst/>
          </a:prstGeom>
          <a:solidFill>
            <a:srgbClr val="FFFAE7"/>
          </a:solidFill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Postoperative outcomes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99280" y="5147640"/>
            <a:ext cx="334332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MORBIDITY : no difference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20" y="5147640"/>
            <a:ext cx="165600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/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CONVERSION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0" y="5364000"/>
            <a:ext cx="1656000" cy="17964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/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50% in LHP group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0" y="5544000"/>
            <a:ext cx="165600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/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LENGTH OF STAY</a:t>
            </a:r>
          </a:p>
        </p:txBody>
      </p:sp>
      <p:graphicFrame>
        <p:nvGraphicFramePr>
          <p:cNvPr id="104" name="Tableau 103"/>
          <p:cNvGraphicFramePr/>
          <p:nvPr>
            <p:extLst>
              <p:ext uri="{D42A27DB-BD31-4B8C-83A1-F6EECF244321}">
                <p14:modId xmlns:p14="http://schemas.microsoft.com/office/powerpoint/2010/main" val="3819727471"/>
              </p:ext>
            </p:extLst>
          </p:nvPr>
        </p:nvGraphicFramePr>
        <p:xfrm>
          <a:off x="1801440" y="5365440"/>
          <a:ext cx="3341160" cy="982440"/>
        </p:xfrm>
        <a:graphic>
          <a:graphicData uri="http://schemas.openxmlformats.org/drawingml/2006/table">
            <a:tbl>
              <a:tblPr/>
              <a:tblGrid>
                <a:gridCol w="76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Laparoscopic HP</a:t>
                      </a:r>
                    </a:p>
                    <a:p>
                      <a:pPr algn="ctr"/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N=101</a:t>
                      </a:r>
                    </a:p>
                  </a:txBody>
                  <a:tcPr marL="18000" marR="18000" marT="18000" marB="18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Open SPA</a:t>
                      </a:r>
                    </a:p>
                    <a:p>
                      <a:pPr algn="ctr"/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N=101</a:t>
                      </a:r>
                    </a:p>
                  </a:txBody>
                  <a:tcPr marL="18000" marR="18000" marT="18000" marB="18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p value</a:t>
                      </a:r>
                    </a:p>
                  </a:txBody>
                  <a:tcPr marL="18000" marR="18000" marT="18000" marB="18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400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Mortality</a:t>
                      </a:r>
                    </a:p>
                  </a:txBody>
                  <a:tcPr marL="36000" marR="36000" marT="36000" marB="36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5 (5.0%)</a:t>
                      </a:r>
                    </a:p>
                  </a:txBody>
                  <a:tcPr marL="36000" marR="36000" marT="36000" marB="36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3 (3.0%)</a:t>
                      </a:r>
                    </a:p>
                  </a:txBody>
                  <a:tcPr marL="36000" marR="36000" marT="36000" marB="36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0.7</a:t>
                      </a:r>
                    </a:p>
                  </a:txBody>
                  <a:tcPr marL="36000" marR="36000" marT="36000" marB="36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Dindo≥ 2</a:t>
                      </a:r>
                    </a:p>
                  </a:txBody>
                  <a:tcPr marL="36000" marR="36000" marT="36000" marB="36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27 (27%)</a:t>
                      </a:r>
                    </a:p>
                  </a:txBody>
                  <a:tcPr marL="36000" marR="36000" marT="36000" marB="36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26 (26%)</a:t>
                      </a:r>
                    </a:p>
                  </a:txBody>
                  <a:tcPr marL="36000" marR="36000" marT="36000" marB="36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&gt;0.9</a:t>
                      </a:r>
                    </a:p>
                  </a:txBody>
                  <a:tcPr marL="36000" marR="36000" marT="36000" marB="36000" anchor="ctr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5" name="Image 104"/>
          <p:cNvPicPr/>
          <p:nvPr/>
        </p:nvPicPr>
        <p:blipFill>
          <a:blip r:embed="rId4"/>
          <a:srcRect l="8538" r="86664" b="37826"/>
          <a:stretch/>
        </p:blipFill>
        <p:spPr>
          <a:xfrm>
            <a:off x="71280" y="6557040"/>
            <a:ext cx="170640" cy="13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05"/>
          <p:cNvSpPr/>
          <p:nvPr/>
        </p:nvSpPr>
        <p:spPr>
          <a:xfrm>
            <a:off x="360" y="6335640"/>
            <a:ext cx="5143320" cy="216000"/>
          </a:xfrm>
          <a:prstGeom prst="rect">
            <a:avLst/>
          </a:prstGeom>
          <a:solidFill>
            <a:srgbClr val="FFFAE7"/>
          </a:solidFill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Stoma-Free Survival</a:t>
            </a:r>
          </a:p>
        </p:txBody>
      </p:sp>
      <p:pic>
        <p:nvPicPr>
          <p:cNvPr id="107" name="Image 106"/>
          <p:cNvPicPr/>
          <p:nvPr/>
        </p:nvPicPr>
        <p:blipFill>
          <a:blip r:embed="rId5"/>
          <a:srcRect r="415"/>
          <a:stretch/>
        </p:blipFill>
        <p:spPr>
          <a:xfrm>
            <a:off x="215280" y="6771240"/>
            <a:ext cx="2664000" cy="12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Rectangle 107"/>
          <p:cNvSpPr/>
          <p:nvPr/>
        </p:nvSpPr>
        <p:spPr>
          <a:xfrm>
            <a:off x="360" y="1832400"/>
            <a:ext cx="5143320" cy="43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72000" indent="-72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Laparoscopy : well-established for elective / uncomplicated diverticulitis (Hinchey I-II)</a:t>
            </a:r>
            <a:endParaRPr lang="en-US" sz="1000" b="1" u="none" strike="noStrike" dirty="0">
              <a:solidFill>
                <a:srgbClr val="000000"/>
              </a:solidFill>
              <a:effectLst/>
              <a:uFillTx/>
              <a:latin typeface="Ubuntu"/>
            </a:endParaRPr>
          </a:p>
          <a:p>
            <a:pPr marL="72000" indent="-72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Remains debated for generalized peritonitis from perforated diverticulitis (Hinchey III-IV) </a:t>
            </a:r>
            <a:endParaRPr lang="en-US" sz="1000" b="1" u="none" strike="noStrike" dirty="0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720" y="5760000"/>
            <a:ext cx="1656000" cy="17964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/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12d 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vs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 10d ; NS</a:t>
            </a:r>
          </a:p>
        </p:txBody>
      </p:sp>
      <p:sp>
        <p:nvSpPr>
          <p:cNvPr id="110" name="ZoneTexte 9"/>
          <p:cNvSpPr/>
          <p:nvPr/>
        </p:nvSpPr>
        <p:spPr>
          <a:xfrm>
            <a:off x="2519280" y="360"/>
            <a:ext cx="2623680" cy="1182240"/>
          </a:xfrm>
          <a:prstGeom prst="rect">
            <a:avLst/>
          </a:pr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numCol="1" spcCol="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1" u="none" strike="noStrike" dirty="0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LAPAROSCOPIC HARTMANN : </a:t>
            </a:r>
            <a:br>
              <a:rPr sz="1200" dirty="0"/>
            </a:br>
            <a:r>
              <a:rPr lang="en-US" sz="1200" b="1" u="none" strike="noStrike" dirty="0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A GOOD OPTION FOR ACUTE COLONIC DIVERTICULITIS WITH GENERALIZED PERITONITIS ?</a:t>
            </a:r>
            <a:r>
              <a:rPr lang="en-US" sz="1300" b="1" u="none" strike="noStrike" dirty="0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 </a:t>
            </a:r>
            <a:endParaRPr lang="en-US" sz="1300" b="0" u="none" strike="noStrike" dirty="0">
              <a:solidFill>
                <a:srgbClr val="1A1D62"/>
              </a:solidFill>
              <a:effectLst/>
              <a:uFillTx/>
              <a:latin typeface="Arial"/>
              <a:ea typeface="Arial Unicode MS"/>
            </a:endParaRPr>
          </a:p>
          <a:p>
            <a:pPr algn="ctr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050" b="1" u="none" strike="noStrike" dirty="0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A comparative matched cohort study using a national database</a:t>
            </a:r>
            <a:endParaRPr lang="en-US" sz="1050" b="0" u="none" strike="noStrike" dirty="0">
              <a:solidFill>
                <a:srgbClr val="1A1D62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111" name="Image 110"/>
          <p:cNvPicPr/>
          <p:nvPr/>
        </p:nvPicPr>
        <p:blipFill>
          <a:blip r:embed="rId6"/>
          <a:stretch/>
        </p:blipFill>
        <p:spPr>
          <a:xfrm>
            <a:off x="1915800" y="1356540"/>
            <a:ext cx="216000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Rectangle 111"/>
          <p:cNvSpPr/>
          <p:nvPr/>
        </p:nvSpPr>
        <p:spPr>
          <a:xfrm>
            <a:off x="112680" y="4032360"/>
            <a:ext cx="1620000" cy="28764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Laparoscopic HP : n = 138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19640" y="4032000"/>
            <a:ext cx="1620000" cy="288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Laparoscopic HP : n = 101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419640" y="4356000"/>
            <a:ext cx="1620000" cy="288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Open SPA : n = 101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79640" y="6551640"/>
            <a:ext cx="226404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Impact of conversion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0" y="6551640"/>
            <a:ext cx="288000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Open SPA vs Laparoscopic HP</a:t>
            </a:r>
          </a:p>
        </p:txBody>
      </p:sp>
      <p:pic>
        <p:nvPicPr>
          <p:cNvPr id="117" name="Image 116"/>
          <p:cNvPicPr/>
          <p:nvPr/>
        </p:nvPicPr>
        <p:blipFill>
          <a:blip r:embed="rId7"/>
          <a:stretch/>
        </p:blipFill>
        <p:spPr>
          <a:xfrm>
            <a:off x="0" y="7091640"/>
            <a:ext cx="96840" cy="67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Image 117"/>
          <p:cNvPicPr/>
          <p:nvPr/>
        </p:nvPicPr>
        <p:blipFill>
          <a:blip r:embed="rId8"/>
          <a:srcRect l="2853"/>
          <a:stretch/>
        </p:blipFill>
        <p:spPr>
          <a:xfrm>
            <a:off x="2891880" y="6890040"/>
            <a:ext cx="2250720" cy="110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Rectangle 118"/>
          <p:cNvSpPr/>
          <p:nvPr/>
        </p:nvSpPr>
        <p:spPr>
          <a:xfrm>
            <a:off x="720" y="7992000"/>
            <a:ext cx="5143320" cy="216000"/>
          </a:xfrm>
          <a:prstGeom prst="rect">
            <a:avLst/>
          </a:prstGeom>
          <a:solidFill>
            <a:schemeClr val="bg2">
              <a:lumMod val="6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u="none" strike="noStrike" dirty="0">
                <a:solidFill>
                  <a:srgbClr val="000000"/>
                </a:solidFill>
                <a:effectLst/>
                <a:uFillTx/>
                <a:latin typeface="Ubuntu"/>
              </a:rPr>
              <a:t>CONCLUSION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20" y="5939640"/>
            <a:ext cx="165600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6000" rIns="0" bIns="36000" anchor="ctr">
            <a:noAutofit/>
          </a:bodyPr>
          <a:lstStyle/>
          <a:p>
            <a:pPr algn="ctr"/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INCISIONAL HERNIA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20" y="6155640"/>
            <a:ext cx="1656000" cy="179640"/>
          </a:xfrm>
          <a:prstGeom prst="rect">
            <a:avLst/>
          </a:prstGeom>
          <a:solidFill>
            <a:srgbClr val="FFFFFF"/>
          </a:solidFill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19% </a:t>
            </a:r>
            <a:r>
              <a:rPr lang="en-US" sz="1200" b="0" i="1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vs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Ubuntu"/>
              </a:rPr>
              <a:t>21% ; p = 0.9</a:t>
            </a:r>
          </a:p>
        </p:txBody>
      </p:sp>
      <p:sp>
        <p:nvSpPr>
          <p:cNvPr id="122" name="Rectangle 121"/>
          <p:cNvSpPr/>
          <p:nvPr/>
        </p:nvSpPr>
        <p:spPr>
          <a:xfrm flipV="1">
            <a:off x="2880000" y="6767280"/>
            <a:ext cx="2264040" cy="122400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23" name="Rectangle 122"/>
          <p:cNvSpPr/>
          <p:nvPr/>
        </p:nvSpPr>
        <p:spPr>
          <a:xfrm flipV="1">
            <a:off x="360" y="6767280"/>
            <a:ext cx="2880000" cy="122400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360" y="8208000"/>
            <a:ext cx="5143320" cy="432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72000" indent="-72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50" b="0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Despite similar perioperative outcomes, Laparoscopic Hartmann </a:t>
            </a:r>
            <a:r>
              <a:rPr lang="en-US" sz="950" b="1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leads to </a:t>
            </a:r>
            <a:r>
              <a:rPr lang="en-US" sz="950" b="1" dirty="0">
                <a:solidFill>
                  <a:srgbClr val="000000"/>
                </a:solidFill>
                <a:latin typeface="Ubuntu"/>
                <a:ea typeface="GillSans"/>
              </a:rPr>
              <a:t>decreased</a:t>
            </a:r>
            <a:r>
              <a:rPr lang="en-US" sz="950" b="1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 stoma-free survival</a:t>
            </a:r>
            <a:r>
              <a:rPr lang="en-US" sz="950" b="0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 than Open </a:t>
            </a:r>
            <a:r>
              <a:rPr lang="en-US" sz="950" b="0" u="none" strike="noStrike" dirty="0" err="1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Sigmoïdectomy</a:t>
            </a:r>
            <a:r>
              <a:rPr lang="en-US" sz="950" b="0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 with Primary Anastomosis and Ileostomy 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360" y="8640000"/>
            <a:ext cx="5143320" cy="50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solidFill>
              <a:srgbClr val="35526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marL="72000" indent="-72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1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Open </a:t>
            </a:r>
            <a:r>
              <a:rPr lang="en-US" sz="1100" b="1" u="none" strike="noStrike" dirty="0" err="1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sigmoidectomy</a:t>
            </a:r>
            <a:r>
              <a:rPr lang="en-US" sz="1100" b="1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 with primary anastomosis and protective ileostomy </a:t>
            </a:r>
            <a:r>
              <a:rPr lang="en-US" sz="1100" b="0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remains the </a:t>
            </a:r>
            <a:r>
              <a:rPr lang="en-US" sz="1100" b="1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reference procedure</a:t>
            </a:r>
            <a:r>
              <a:rPr lang="en-US" sz="1100" b="0" u="none" strike="noStrike" dirty="0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 for Hinchey III–IV diverticular peritonitis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DA2D652-7283-4A2D-A97D-2186FBF0153A}"/>
              </a:ext>
            </a:extLst>
          </p:cNvPr>
          <p:cNvSpPr txBox="1"/>
          <p:nvPr/>
        </p:nvSpPr>
        <p:spPr>
          <a:xfrm>
            <a:off x="4553042" y="7043754"/>
            <a:ext cx="29276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1" dirty="0"/>
              <a:t>NS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77E97AA-ABB1-459F-970A-EA64DD50A8D0}"/>
              </a:ext>
            </a:extLst>
          </p:cNvPr>
          <p:cNvSpPr txBox="1"/>
          <p:nvPr/>
        </p:nvSpPr>
        <p:spPr>
          <a:xfrm>
            <a:off x="3970404" y="6942223"/>
            <a:ext cx="4623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1" dirty="0"/>
              <a:t>p= 0,01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AAF19A33-4EA7-4894-8710-D2F205BF0A1E}"/>
              </a:ext>
            </a:extLst>
          </p:cNvPr>
          <p:cNvCxnSpPr>
            <a:cxnSpLocks/>
          </p:cNvCxnSpPr>
          <p:nvPr/>
        </p:nvCxnSpPr>
        <p:spPr>
          <a:xfrm>
            <a:off x="4785509" y="7039307"/>
            <a:ext cx="0" cy="167609"/>
          </a:xfrm>
          <a:prstGeom prst="straightConnector1">
            <a:avLst/>
          </a:prstGeom>
          <a:ln w="3175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990D0186-6BC1-4FB8-BF08-A3FCF1330773}"/>
              </a:ext>
            </a:extLst>
          </p:cNvPr>
          <p:cNvCxnSpPr>
            <a:cxnSpLocks/>
          </p:cNvCxnSpPr>
          <p:nvPr/>
        </p:nvCxnSpPr>
        <p:spPr>
          <a:xfrm>
            <a:off x="4352373" y="6942223"/>
            <a:ext cx="0" cy="167609"/>
          </a:xfrm>
          <a:prstGeom prst="straightConnector1">
            <a:avLst/>
          </a:prstGeom>
          <a:ln w="3175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481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</TotalTime>
  <Words>315</Words>
  <Application>Microsoft Office PowerPoint</Application>
  <PresentationFormat>Affichage à l'écran (16:9)</PresentationFormat>
  <Paragraphs>52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12</vt:i4>
      </vt:variant>
      <vt:variant>
        <vt:lpstr>Titres des diapositives</vt:lpstr>
      </vt:variant>
      <vt:variant>
        <vt:i4>1</vt:i4>
      </vt:variant>
    </vt:vector>
  </HeadingPairs>
  <TitlesOfParts>
    <vt:vector size="21" baseType="lpstr">
      <vt:lpstr>Arial</vt:lpstr>
      <vt:lpstr>Calibri</vt:lpstr>
      <vt:lpstr>Calibri Light</vt:lpstr>
      <vt:lpstr>GillSans</vt:lpstr>
      <vt:lpstr>Symbol</vt:lpstr>
      <vt:lpstr>Times New Roman</vt:lpstr>
      <vt:lpstr>Ubuntu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MARIANI Antoine</dc:creator>
  <cp:lastModifiedBy>MARIANI Antoine</cp:lastModifiedBy>
  <cp:revision>6</cp:revision>
  <dcterms:modified xsi:type="dcterms:W3CDTF">2025-09-02T14:02:18Z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2020-08-26T11:17:44Z</dcterms:created>
  <dc:creator>Kristýna Slavíčková</dc:creator>
  <dc:description/>
  <dc:language>fr-FR</dc:language>
  <cp:lastModifiedBy/>
  <dcterms:modified xsi:type="dcterms:W3CDTF">2025-09-01T12:54:58Z</dcterms:modified>
  <cp:revision>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0x010100AE032575AFEF6A468913E3ECE28A154D</vt:lpwstr>
  </property>
  <property fmtid="{D5CDD505-2E9C-101B-9397-08002B2CF9AE}" pid="3" name="MediaServiceImageTags">
    <vt:lpwstr/>
  </property>
</Properties>
</file>