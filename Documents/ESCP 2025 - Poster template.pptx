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6.xml" ContentType="application/vnd.openxmlformats-officedocument.theme+xml"/>
  <Override PartName="/ppt/theme/theme11.xml" ContentType="application/vnd.openxmlformats-officedocument.theme+xml"/>
  <Override PartName="/ppt/theme/theme10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5.xml.rels" ContentType="application/vnd.openxmlformats-package.relationships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1.jpeg" ContentType="image/jpeg"/>
  <Override PartName="/ppt/media/image5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3" r:id="rId5"/>
    <p:sldMasterId id="2147483654" r:id="rId6"/>
    <p:sldMasterId id="2147483655" r:id="rId7"/>
    <p:sldMasterId id="2147483656" r:id="rId8"/>
    <p:sldMasterId id="2147483657" r:id="rId9"/>
    <p:sldMasterId id="2147483658" r:id="rId10"/>
    <p:sldMasterId id="2147483659" r:id="rId11"/>
    <p:sldMasterId id="2147483660" r:id="rId12"/>
    <p:sldMasterId id="2147483661" r:id="rId13"/>
  </p:sldMasterIdLst>
  <p:sldIdLst>
    <p:sldId id="256" r:id="rId14"/>
  </p:sldIdLst>
  <p:sldSz cx="51435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Motiv-Office-2013–20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85200" y="1496160"/>
            <a:ext cx="4371840" cy="3183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4224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194688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325116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/>
          </p:nvPr>
        </p:nvSpPr>
        <p:spPr>
          <a:xfrm>
            <a:off x="64224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/>
          </p:nvPr>
        </p:nvSpPr>
        <p:spPr>
          <a:xfrm>
            <a:off x="194688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7"/>
          <p:cNvSpPr>
            <a:spLocks noGrp="1"/>
          </p:cNvSpPr>
          <p:nvPr>
            <p:ph/>
          </p:nvPr>
        </p:nvSpPr>
        <p:spPr>
          <a:xfrm>
            <a:off x="325116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B8E543-2D11-4F78-BA92-AFAC91C76EB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1-Layout1-title-Úvodní-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85200" y="1496160"/>
            <a:ext cx="4371840" cy="318348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4224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194688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3251160" y="480240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64224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/>
          </p:nvPr>
        </p:nvSpPr>
        <p:spPr>
          <a:xfrm>
            <a:off x="194688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7"/>
          <p:cNvSpPr>
            <a:spLocks noGrp="1"/>
          </p:cNvSpPr>
          <p:nvPr>
            <p:ph/>
          </p:nvPr>
        </p:nvSpPr>
        <p:spPr>
          <a:xfrm>
            <a:off x="3251160" y="5955480"/>
            <a:ext cx="1242000" cy="105264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 fontScale="55000" lnSpcReduction="19999"/>
          </a:bodyPr>
          <a:p>
            <a:pPr indent="0">
              <a:spcBef>
                <a:spcPts val="1414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B52720-1234-4F82-B471-4EE62C404E3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247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52800" y="2433960"/>
            <a:ext cx="4436280" cy="58017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5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592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296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000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1574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DCD9646-408E-4998-B958-BB3B9C56C7F5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C31788-BA64-4EFD-9503-ED04EEA438B7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85200" y="1496160"/>
            <a:ext cx="4371840" cy="318348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 anchorCtr="1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b="0" lang="cs-CZ" sz="338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33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4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7053E58B-0382-4D3F-B784-9760602CF900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5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626EEE-167F-436A-8041-8B70B683D7C9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256320" y="2139120"/>
            <a:ext cx="4628520" cy="530280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4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247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title"/>
          </p:nvPr>
        </p:nvSpPr>
        <p:spPr>
          <a:xfrm>
            <a:off x="352800" y="2433960"/>
            <a:ext cx="4436280" cy="58017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5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592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296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000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1574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7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55A69EFA-9D21-44A9-8B29-AAE8EB2D2412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8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9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204DF4-F082-4A50-BB82-26E70E6804E5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body"/>
          </p:nvPr>
        </p:nvSpPr>
        <p:spPr>
          <a:xfrm>
            <a:off x="256680" y="2139480"/>
            <a:ext cx="4628880" cy="53031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7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57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2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50280" y="2279160"/>
            <a:ext cx="4436280" cy="38037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338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33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50280" y="6118920"/>
            <a:ext cx="4436280" cy="20001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0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40B027FF-3B4B-46A2-AA04-24D7EF1737CD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11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12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EC5A4C-9403-4B38-A874-64E1A8008CAB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247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title"/>
          </p:nvPr>
        </p:nvSpPr>
        <p:spPr>
          <a:xfrm>
            <a:off x="352800" y="2433960"/>
            <a:ext cx="2185920" cy="58017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5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592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296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000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1574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title"/>
          </p:nvPr>
        </p:nvSpPr>
        <p:spPr>
          <a:xfrm>
            <a:off x="2603160" y="2433960"/>
            <a:ext cx="2185920" cy="580176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5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592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296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000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1574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3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5AD9BC5-60A2-468C-A922-DBD9209AE3C2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4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5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7D401D8-C1EE-4DC6-A76A-57F4A31E221A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body"/>
          </p:nvPr>
        </p:nvSpPr>
        <p:spPr>
          <a:xfrm>
            <a:off x="256680" y="2139480"/>
            <a:ext cx="4628880" cy="53031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7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57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2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5352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247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353520" y="2241360"/>
            <a:ext cx="2175840" cy="1098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marL="432000" indent="-324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title"/>
          </p:nvPr>
        </p:nvSpPr>
        <p:spPr>
          <a:xfrm>
            <a:off x="353520" y="3339720"/>
            <a:ext cx="2175840" cy="49129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5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592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296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000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1574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2603160" y="2241360"/>
            <a:ext cx="2186640" cy="1098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spcBef>
                <a:spcPts val="564"/>
              </a:spcBef>
            </a:pPr>
            <a:r>
              <a:rPr b="1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title"/>
          </p:nvPr>
        </p:nvSpPr>
        <p:spPr>
          <a:xfrm>
            <a:off x="2603160" y="3339720"/>
            <a:ext cx="2186640" cy="49129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5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592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296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000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1574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6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C076DD8-CC29-4422-9C9F-EE57DA718580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17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18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44495BE-095E-4816-9DD1-8B53C18BB0D7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247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19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0B65AAB8-5B0D-4BB9-B4AF-D3C35E62EC21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0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21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E1828D-6F6E-4BD3-8DF1-BF2CF00074AD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256680" y="2139480"/>
            <a:ext cx="4628880" cy="53031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7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57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2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dt" idx="22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691647B-3225-4499-BE74-C49B36B2A698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ftr" idx="23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sldNum" idx="24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DF82AE9-E419-491E-AA26-657E497AF455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256680" y="364680"/>
            <a:ext cx="4628880" cy="15267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223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b="0" lang="en-US" sz="22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256680" y="2139480"/>
            <a:ext cx="4628880" cy="5303160"/>
          </a:xfrm>
          <a:prstGeom prst="rect">
            <a:avLst/>
          </a:prstGeom>
          <a:noFill/>
          <a:ln w="1260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7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b="0" lang="en-US" sz="16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57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b="0" lang="en-US" sz="14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43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2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28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14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1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53520" y="609120"/>
            <a:ext cx="1658880" cy="2133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2185920" y="1316160"/>
            <a:ext cx="2603880" cy="6498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592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5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296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000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1574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353520" y="2743200"/>
            <a:ext cx="1658880" cy="5082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9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25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D51DA63E-4B34-425E-8C0F-60A272BE4FCD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26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27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85EC64-1FD2-4919-85B8-30806676ED6E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53520" y="609120"/>
            <a:ext cx="1658880" cy="2133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title"/>
          </p:nvPr>
        </p:nvSpPr>
        <p:spPr>
          <a:xfrm>
            <a:off x="2185920" y="1316160"/>
            <a:ext cx="2603880" cy="649800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lnSpc>
                <a:spcPct val="90000"/>
              </a:lnSpc>
              <a:spcBef>
                <a:spcPts val="564"/>
              </a:spcBef>
              <a:buNone/>
            </a:pPr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Kliknutím na ikonu přidáte obrázek.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353520" y="2743200"/>
            <a:ext cx="1658880" cy="50821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9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28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6B7319B-D1BD-4DA3-942D-590673E86231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29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0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A5FFDD4-B76D-4ADC-8810-F9F9088046CE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52800" y="486360"/>
            <a:ext cx="4436280" cy="176724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247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352800" y="2433960"/>
            <a:ext cx="4436280" cy="58017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91440" bIns="91440" anchor="t" vert="eaVert">
            <a:normAutofit/>
          </a:bodyPr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5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592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296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000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1574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31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CC760E8E-A4C7-4159-83AA-C259C9C704A6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32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33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FB50CD-F9D2-4297-B36A-996519864EA8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679920" y="486360"/>
            <a:ext cx="1109160" cy="774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91440" bIns="91440" anchor="t" anchorCtr="1" vert="eaVert">
            <a:normAutofit/>
          </a:bodyPr>
          <a:p>
            <a:pPr indent="0">
              <a:lnSpc>
                <a:spcPct val="90000"/>
              </a:lnSpc>
              <a:buNone/>
            </a:pPr>
            <a:r>
              <a:rPr b="0" lang="cs-CZ" sz="2470" strike="noStrike" u="none">
                <a:solidFill>
                  <a:srgbClr val="000000"/>
                </a:solidFill>
                <a:effectLst/>
                <a:uFillTx/>
                <a:latin typeface="Calibri Light"/>
              </a:rPr>
              <a:t>Kliknutím lze upravit styl.</a:t>
            </a:r>
            <a:endParaRPr b="0" lang="en-US" sz="247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52800" y="486360"/>
            <a:ext cx="3263040" cy="77490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91440" bIns="91440" anchor="t" vert="eaVert">
            <a:normAutofit/>
          </a:bodyPr>
          <a:p>
            <a:pPr marL="128520" indent="-128520">
              <a:lnSpc>
                <a:spcPct val="90000"/>
              </a:lnSpc>
              <a:spcBef>
                <a:spcPts val="56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58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Po kliknutí můžete upravovat styly textu v předloze.</a:t>
            </a:r>
            <a:endParaRPr b="0" lang="en-US" sz="15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38592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35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Druhá úroveň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64296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13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Třetí úroveň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9000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Čtvrtá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1157400" indent="-12852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101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Pátá úroveň</a:t>
            </a:r>
            <a:endParaRPr b="0" lang="en-US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dt" idx="34"/>
          </p:nvPr>
        </p:nvSpPr>
        <p:spPr>
          <a:xfrm>
            <a:off x="35280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fld id="{18BBE669-1FE4-46CE-9815-160F081B2436}" type="datetime1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01.09.2025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ftr" idx="35"/>
          </p:nvPr>
        </p:nvSpPr>
        <p:spPr>
          <a:xfrm>
            <a:off x="1703160" y="8474760"/>
            <a:ext cx="173592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 anchorCtr="1">
            <a:noAutofit/>
          </a:bodyPr>
          <a:p>
            <a:pPr indent="0">
              <a:buNone/>
            </a:pPr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sldNum" idx="36"/>
          </p:nvPr>
        </p:nvSpPr>
        <p:spPr>
          <a:xfrm>
            <a:off x="3632040" y="8474760"/>
            <a:ext cx="1157400" cy="486720"/>
          </a:xfrm>
          <a:prstGeom prst="rect">
            <a:avLst/>
          </a:prstGeom>
          <a:noFill/>
          <a:ln w="1260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FD66641-D159-43A8-9F33-E1852879A2FA}" type="slidenum">
              <a:rPr b="0" lang="cs-CZ" sz="670" strike="noStrike" u="none">
                <a:solidFill>
                  <a:srgbClr val="898989"/>
                </a:solidFill>
                <a:effectLst/>
                <a:uFillTx/>
                <a:latin typeface="Calibri"/>
              </a:rPr>
              <a:t>&lt;numéro&gt;</a:t>
            </a:fld>
            <a:endParaRPr b="0" lang="en-US" sz="6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hyperlink" Target="mailto:thomas.husson@aphp.fr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Obrázek 2" descr="Obsah obrázku text, snímek obrazovky, panoráma&#10;&#10;Obsah generovaný pomocí AI může být nesprávný."/>
          <p:cNvPicPr/>
          <p:nvPr/>
        </p:nvPicPr>
        <p:blipFill>
          <a:blip r:embed="rId1"/>
          <a:stretch/>
        </p:blipFill>
        <p:spPr>
          <a:xfrm>
            <a:off x="0" y="0"/>
            <a:ext cx="5143320" cy="99072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85" name="ZoneTexte 6"/>
          <p:cNvSpPr/>
          <p:nvPr/>
        </p:nvSpPr>
        <p:spPr>
          <a:xfrm>
            <a:off x="0" y="1167480"/>
            <a:ext cx="5143320" cy="62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Thomas Husson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Charles Sabbagh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2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Antoine Cazelles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Gilles Manceau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Mehdi Karoui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Arnaud Alves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3</a:t>
            </a:r>
            <a:r>
              <a:rPr b="1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, Antoine Mariani</a:t>
            </a:r>
            <a:r>
              <a:rPr b="1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1</a:t>
            </a:r>
            <a:r>
              <a:rPr b="0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Hôpital Européen Georges Pompidou, Paris, France (Contact : </a:t>
            </a:r>
            <a:r>
              <a:rPr b="0" lang="fr-FR" sz="700" strike="noStrike" u="sng">
                <a:solidFill>
                  <a:schemeClr val="dk1"/>
                </a:solidFill>
                <a:effectLst/>
                <a:uFillTx/>
                <a:latin typeface="Ubuntu"/>
                <a:ea typeface="Calibri"/>
                <a:hlinkClick r:id="rId2"/>
              </a:rPr>
              <a:t>thomas.husson@aphp.fr</a:t>
            </a:r>
            <a:r>
              <a:rPr b="0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 / </a:t>
            </a:r>
            <a:r>
              <a:rPr b="0" lang="fr-FR" sz="700" strike="noStrike" u="sng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antoine.mariani@aphp.fr)</a:t>
            </a:r>
            <a:br>
              <a:rPr sz="700"/>
            </a:br>
            <a:r>
              <a:rPr b="0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2</a:t>
            </a:r>
            <a:r>
              <a:rPr b="0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CHU d’Amiens, Amiens, France</a:t>
            </a:r>
            <a:br>
              <a:rPr sz="700"/>
            </a:br>
            <a:r>
              <a:rPr b="0" lang="fr-FR" sz="700" strike="noStrike" u="none" baseline="33000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3</a:t>
            </a:r>
            <a:r>
              <a:rPr b="0" lang="fr-FR" sz="700" strike="noStrike" u="none">
                <a:solidFill>
                  <a:schemeClr val="dk1"/>
                </a:solidFill>
                <a:effectLst/>
                <a:uFillTx/>
                <a:latin typeface="Ubuntu"/>
                <a:ea typeface="Calibri"/>
              </a:rPr>
              <a:t>CHU de Caen, Caen, France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360" y="1656360"/>
            <a:ext cx="5143320" cy="179280"/>
          </a:xfrm>
          <a:prstGeom prst="rect">
            <a:avLst/>
          </a:prstGeom>
          <a:solidFill>
            <a:srgbClr val="ffa6a6"/>
          </a:solidFill>
          <a:ln w="0">
            <a:solidFill>
              <a:srgbClr val="c9211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INTRODUCTION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87" name=""/>
          <p:cNvSpPr/>
          <p:nvPr/>
        </p:nvSpPr>
        <p:spPr>
          <a:xfrm rot="21596400">
            <a:off x="360" y="2270160"/>
            <a:ext cx="5143320" cy="180000"/>
          </a:xfrm>
          <a:prstGeom prst="rect">
            <a:avLst/>
          </a:prstGeom>
          <a:solidFill>
            <a:srgbClr val="b4c7dc"/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OBJECTIVE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88" name=""/>
          <p:cNvSpPr/>
          <p:nvPr/>
        </p:nvSpPr>
        <p:spPr>
          <a:xfrm>
            <a:off x="360" y="2447640"/>
            <a:ext cx="5143320" cy="216000"/>
          </a:xfrm>
          <a:prstGeom prst="rect">
            <a:avLst/>
          </a:prstGeom>
          <a:solidFill>
            <a:srgbClr val="dee6ef"/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>
              <a:spcBef>
                <a:spcPts val="1191"/>
              </a:spcBef>
              <a:spcAft>
                <a:spcPts val="992"/>
              </a:spcAft>
            </a:pP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Evaluate laparoscopic Hartmann for generalized diverticular peritonitis</a:t>
            </a:r>
            <a:endParaRPr b="1" lang="en-US" sz="11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89" name=""/>
          <p:cNvSpPr/>
          <p:nvPr/>
        </p:nvSpPr>
        <p:spPr>
          <a:xfrm>
            <a:off x="107280" y="2735640"/>
            <a:ext cx="1440000" cy="49068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LAPAROSCOPIC HARTMANN (HP)</a:t>
            </a:r>
            <a:endParaRPr b="1" lang="en-US" sz="12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90" name=""/>
          <p:cNvSpPr/>
          <p:nvPr/>
        </p:nvSpPr>
        <p:spPr>
          <a:xfrm>
            <a:off x="2728080" y="2728440"/>
            <a:ext cx="2340000" cy="49068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/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OPEN SIGMOIDECTOMY  PRIMARY ANASTOMOSIS  DIVERTING ILEOSTOMY (SPA)</a:t>
            </a:r>
            <a:endParaRPr b="1" lang="en-US" sz="1200" strike="noStrike" u="none">
              <a:solidFill>
                <a:srgbClr val="000000"/>
              </a:solidFill>
              <a:effectLst/>
              <a:uFillTx/>
              <a:latin typeface="GillSans"/>
              <a:ea typeface="GillSans"/>
            </a:endParaRPr>
          </a:p>
        </p:txBody>
      </p:sp>
      <p:sp>
        <p:nvSpPr>
          <p:cNvPr id="91" name=""/>
          <p:cNvSpPr/>
          <p:nvPr/>
        </p:nvSpPr>
        <p:spPr>
          <a:xfrm>
            <a:off x="1547280" y="2857320"/>
            <a:ext cx="1180800" cy="23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i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vs.</a:t>
            </a:r>
            <a:endParaRPr b="1" i="1" lang="en-US" sz="14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92" name=""/>
          <p:cNvSpPr/>
          <p:nvPr/>
        </p:nvSpPr>
        <p:spPr>
          <a:xfrm>
            <a:off x="719640" y="3275640"/>
            <a:ext cx="3599640" cy="216000"/>
          </a:xfrm>
          <a:prstGeom prst="rect">
            <a:avLst/>
          </a:prstGeom>
          <a:solidFill>
            <a:srgbClr val="dde8cb"/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ENDPOINT = STOMA-FREE SURVIVAL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93" name=""/>
          <p:cNvSpPr/>
          <p:nvPr/>
        </p:nvSpPr>
        <p:spPr>
          <a:xfrm>
            <a:off x="720" y="3779640"/>
            <a:ext cx="5144400" cy="216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05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Data : national database of 6893 surgeries for diverticular disease 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94" name=""/>
          <p:cNvSpPr/>
          <p:nvPr/>
        </p:nvSpPr>
        <p:spPr>
          <a:xfrm>
            <a:off x="107640" y="4356360"/>
            <a:ext cx="1620000" cy="288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Open SPA : n = 146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95" name=""/>
          <p:cNvSpPr/>
          <p:nvPr/>
        </p:nvSpPr>
        <p:spPr>
          <a:xfrm>
            <a:off x="1864080" y="4140000"/>
            <a:ext cx="1447200" cy="359640"/>
          </a:xfrm>
          <a:prstGeom prst="rect">
            <a:avLst/>
          </a:prstGeom>
          <a:solidFill>
            <a:srgbClr val="eeeeee"/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1:1 PROPENSITY SCORE MATCHING </a:t>
            </a:r>
            <a:endParaRPr b="1" lang="en-US" sz="11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96" name=""/>
          <p:cNvSpPr/>
          <p:nvPr/>
        </p:nvSpPr>
        <p:spPr>
          <a:xfrm>
            <a:off x="360" y="3563640"/>
            <a:ext cx="5143320" cy="216000"/>
          </a:xfrm>
          <a:prstGeom prst="rect">
            <a:avLst/>
          </a:prstGeom>
          <a:solidFill>
            <a:srgbClr val="ffffa6"/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PATIENTS AND METHODS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97" name=""/>
          <p:cNvSpPr/>
          <p:nvPr/>
        </p:nvSpPr>
        <p:spPr>
          <a:xfrm>
            <a:off x="360" y="4715640"/>
            <a:ext cx="5143320" cy="216000"/>
          </a:xfrm>
          <a:prstGeom prst="rect">
            <a:avLst/>
          </a:prstGeom>
          <a:solidFill>
            <a:srgbClr val="ffb66c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RESULTS</a:t>
            </a:r>
            <a:endParaRPr b="1" lang="en-US" sz="14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98" name=""/>
          <p:cNvSpPr/>
          <p:nvPr/>
        </p:nvSpPr>
        <p:spPr>
          <a:xfrm>
            <a:off x="1655280" y="7595640"/>
            <a:ext cx="936000" cy="18000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r>
              <a:rPr b="0" i="1" lang="en-US" sz="7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Log rank p &lt; 0.001</a:t>
            </a:r>
            <a:endParaRPr b="0" i="1" lang="en-US" sz="7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  <a:p>
            <a:r>
              <a:rPr b="0" i="1" lang="en-US" sz="7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Cox HR = 1,84 p &lt; 0.001</a:t>
            </a:r>
            <a:endParaRPr b="0" i="1" lang="en-US" sz="7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99" name=""/>
          <p:cNvSpPr/>
          <p:nvPr/>
        </p:nvSpPr>
        <p:spPr>
          <a:xfrm>
            <a:off x="360" y="4931640"/>
            <a:ext cx="5143320" cy="216000"/>
          </a:xfrm>
          <a:prstGeom prst="rect">
            <a:avLst/>
          </a:prstGeom>
          <a:solidFill>
            <a:srgbClr val="fffae7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Peri- Postoperative outcomes</a:t>
            </a:r>
            <a:endParaRPr b="1" lang="en-US" sz="13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00" name=""/>
          <p:cNvSpPr/>
          <p:nvPr/>
        </p:nvSpPr>
        <p:spPr>
          <a:xfrm>
            <a:off x="1799280" y="5147640"/>
            <a:ext cx="334332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MORBIDITY : no differences</a:t>
            </a:r>
            <a:endParaRPr b="1" lang="en-US" sz="12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01" name=""/>
          <p:cNvSpPr/>
          <p:nvPr/>
        </p:nvSpPr>
        <p:spPr>
          <a:xfrm>
            <a:off x="720" y="5147640"/>
            <a:ext cx="165600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/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CONVERSION</a:t>
            </a:r>
            <a:endParaRPr b="1" lang="en-US" sz="12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02" name=""/>
          <p:cNvSpPr/>
          <p:nvPr/>
        </p:nvSpPr>
        <p:spPr>
          <a:xfrm>
            <a:off x="720" y="5364000"/>
            <a:ext cx="1656000" cy="17964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/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50% in LHP group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03" name=""/>
          <p:cNvSpPr/>
          <p:nvPr/>
        </p:nvSpPr>
        <p:spPr>
          <a:xfrm>
            <a:off x="720" y="5544000"/>
            <a:ext cx="165600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/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LENGTH OF STAY</a:t>
            </a:r>
            <a:endParaRPr b="1" lang="en-US" sz="12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graphicFrame>
        <p:nvGraphicFramePr>
          <p:cNvPr id="104" name=""/>
          <p:cNvGraphicFramePr/>
          <p:nvPr/>
        </p:nvGraphicFramePr>
        <p:xfrm>
          <a:off x="1801440" y="5365440"/>
          <a:ext cx="3341160" cy="961560"/>
        </p:xfrm>
        <a:graphic>
          <a:graphicData uri="http://schemas.openxmlformats.org/drawingml/2006/table">
            <a:tbl>
              <a:tblPr/>
              <a:tblGrid>
                <a:gridCol w="767160"/>
                <a:gridCol w="1238400"/>
                <a:gridCol w="776520"/>
                <a:gridCol w="559080"/>
              </a:tblGrid>
              <a:tr h="335520">
                <a:tc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t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000" rIns="18000" tIns="18000" bIns="18000" anchor="ctr">
                      <a:noAutofit/>
                    </a:bodyPr>
                    <a:p>
                      <a:pPr algn="ctr"/>
                      <a:r>
                        <a:rPr b="1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Laparoscopic HP</a:t>
                      </a:r>
                      <a:endParaRPr b="1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18000" marR="18000" marT="18000" marB="18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000" rIns="18000" tIns="18000" bIns="18000" anchor="ctr">
                      <a:noAutofit/>
                    </a:bodyPr>
                    <a:p>
                      <a:pPr algn="ctr"/>
                      <a:r>
                        <a:rPr b="1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Open SPA</a:t>
                      </a:r>
                      <a:endParaRPr b="1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18000" marR="18000" marT="18000" marB="18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8000" rIns="18000" tIns="18000" bIns="18000" anchor="ctr">
                      <a:noAutofit/>
                    </a:bodyPr>
                    <a:p>
                      <a:pPr algn="ctr"/>
                      <a:r>
                        <a:rPr b="0" i="1" lang="en-US" sz="105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p value</a:t>
                      </a:r>
                      <a:endParaRPr b="0" i="1" lang="en-US" sz="105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18000" marR="18000" marT="18000" marB="18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2040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Mortality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5 (5.0%)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3 (3.0%)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0.7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  <a:tr h="306000"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Dindo≥ 2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27 (27%)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26 (26%)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ctr">
                      <a:noAutofit/>
                    </a:bodyPr>
                    <a:p>
                      <a:r>
                        <a:rPr b="0" lang="en-US" sz="12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Ubuntu"/>
                        </a:rPr>
                        <a:t>&gt;0.9</a:t>
                      </a:r>
                      <a:endParaRPr b="0" lang="en-US" sz="12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Ubuntu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ff8000"/>
                      </a:solidFill>
                      <a:prstDash val="solid"/>
                    </a:lnL>
                    <a:lnR w="10800">
                      <a:solidFill>
                        <a:srgbClr val="ff8000"/>
                      </a:solidFill>
                      <a:prstDash val="solid"/>
                    </a:lnR>
                    <a:lnT w="10800">
                      <a:solidFill>
                        <a:srgbClr val="ff8000"/>
                      </a:solidFill>
                      <a:prstDash val="solid"/>
                    </a:lnT>
                    <a:lnB w="10800">
                      <a:solidFill>
                        <a:srgbClr val="ff8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05" name="" descr=""/>
          <p:cNvPicPr/>
          <p:nvPr/>
        </p:nvPicPr>
        <p:blipFill>
          <a:blip r:embed="rId3"/>
          <a:srcRect l="8538" t="0" r="86664" b="37826"/>
          <a:stretch/>
        </p:blipFill>
        <p:spPr>
          <a:xfrm>
            <a:off x="71280" y="6557040"/>
            <a:ext cx="170640" cy="139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"/>
          <p:cNvSpPr/>
          <p:nvPr/>
        </p:nvSpPr>
        <p:spPr>
          <a:xfrm>
            <a:off x="360" y="6335640"/>
            <a:ext cx="5143320" cy="216000"/>
          </a:xfrm>
          <a:prstGeom prst="rect">
            <a:avLst/>
          </a:prstGeom>
          <a:solidFill>
            <a:srgbClr val="fffae7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Stoma-Free Survival</a:t>
            </a:r>
            <a:endParaRPr b="1" lang="en-US" sz="13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4"/>
          <a:srcRect l="0" t="0" r="415" b="0"/>
          <a:stretch/>
        </p:blipFill>
        <p:spPr>
          <a:xfrm>
            <a:off x="215280" y="6771240"/>
            <a:ext cx="2664000" cy="128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"/>
          <p:cNvSpPr/>
          <p:nvPr/>
        </p:nvSpPr>
        <p:spPr>
          <a:xfrm>
            <a:off x="360" y="1832400"/>
            <a:ext cx="5143320" cy="435600"/>
          </a:xfrm>
          <a:prstGeom prst="rect">
            <a:avLst/>
          </a:prstGeom>
          <a:noFill/>
          <a:ln w="0">
            <a:solidFill>
              <a:srgbClr val="c9211e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72000" indent="-72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Laparoscopy : well-established for elective / uncomplicated diverticulitis (Hinchey I-II)</a:t>
            </a:r>
            <a:endParaRPr b="1" lang="en-US" sz="10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  <a:p>
            <a:pPr marL="72000" indent="-720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Remains debated for generalized peritonitis from perforated diverticulitis (III-IV) </a:t>
            </a:r>
            <a:endParaRPr b="1" lang="en-US" sz="10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09" name=""/>
          <p:cNvSpPr/>
          <p:nvPr/>
        </p:nvSpPr>
        <p:spPr>
          <a:xfrm>
            <a:off x="720" y="5760000"/>
            <a:ext cx="1656000" cy="17964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/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12 days </a:t>
            </a: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vs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 10d ; NS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10" name="ZoneTexte 9"/>
          <p:cNvSpPr/>
          <p:nvPr/>
        </p:nvSpPr>
        <p:spPr>
          <a:xfrm>
            <a:off x="2519280" y="360"/>
            <a:ext cx="2623680" cy="1182240"/>
          </a:xfrm>
          <a:prstGeom prst="rect">
            <a:avLst/>
          </a:pr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36000" rIns="36000" tIns="36000" bIns="36000" anchor="t">
            <a:spAutoFit/>
          </a:bodyPr>
          <a:p>
            <a:pPr algn="ctr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200" strike="noStrike" u="none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LAPAROSCOPIC HARTMANN : </a:t>
            </a:r>
            <a:br>
              <a:rPr sz="1200"/>
            </a:br>
            <a:r>
              <a:rPr b="1" lang="en-US" sz="1200" strike="noStrike" u="none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A GOOD OPTION FOR ACUTE COLONIC DIVERTICULITIS WITH GENERALIZED PERITONITIS ?</a:t>
            </a:r>
            <a:r>
              <a:rPr b="1" lang="en-US" sz="1300" strike="noStrike" u="none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 </a:t>
            </a:r>
            <a:endParaRPr b="0" lang="en-US" sz="1300" strike="noStrike" u="none">
              <a:solidFill>
                <a:srgbClr val="1a1d62"/>
              </a:solidFill>
              <a:effectLst/>
              <a:uFillTx/>
              <a:latin typeface="Arial"/>
              <a:ea typeface="Arial Unicode MS"/>
            </a:endParaRPr>
          </a:p>
          <a:p>
            <a:pPr algn="ctr" defTabSz="91440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</a:pPr>
            <a:r>
              <a:rPr b="1" lang="en-US" sz="1050" strike="noStrike" u="none">
                <a:solidFill>
                  <a:srgbClr val="1a1d62"/>
                </a:solidFill>
                <a:effectLst/>
                <a:uFillTx/>
                <a:latin typeface="Ubuntu"/>
                <a:ea typeface="Calibri"/>
              </a:rPr>
              <a:t>A comparative matched cohort study using a national database</a:t>
            </a:r>
            <a:endParaRPr b="0" lang="en-US" sz="1050" strike="noStrike" u="none">
              <a:solidFill>
                <a:srgbClr val="1a1d62"/>
              </a:solidFill>
              <a:effectLst/>
              <a:uFillTx/>
              <a:latin typeface="Arial"/>
              <a:ea typeface="Arial Unicode MS"/>
            </a:endParaRPr>
          </a:p>
        </p:txBody>
      </p:sp>
      <p:pic>
        <p:nvPicPr>
          <p:cNvPr id="111" name="" descr=""/>
          <p:cNvPicPr/>
          <p:nvPr/>
        </p:nvPicPr>
        <p:blipFill>
          <a:blip r:embed="rId5"/>
          <a:stretch/>
        </p:blipFill>
        <p:spPr>
          <a:xfrm>
            <a:off x="287280" y="954720"/>
            <a:ext cx="2160000" cy="29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112680" y="4032360"/>
            <a:ext cx="1620000" cy="28764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Laparoscopic HP : n = 138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13" name=""/>
          <p:cNvSpPr/>
          <p:nvPr/>
        </p:nvSpPr>
        <p:spPr>
          <a:xfrm>
            <a:off x="3419640" y="4032000"/>
            <a:ext cx="1620000" cy="288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Laparoscopic HP : n = 101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14" name=""/>
          <p:cNvSpPr/>
          <p:nvPr/>
        </p:nvSpPr>
        <p:spPr>
          <a:xfrm>
            <a:off x="3419640" y="4356000"/>
            <a:ext cx="1620000" cy="288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Open SPA : n = 101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15" name=""/>
          <p:cNvSpPr/>
          <p:nvPr/>
        </p:nvSpPr>
        <p:spPr>
          <a:xfrm>
            <a:off x="2879640" y="6551640"/>
            <a:ext cx="226404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Impact of conversion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16" name=""/>
          <p:cNvSpPr/>
          <p:nvPr/>
        </p:nvSpPr>
        <p:spPr>
          <a:xfrm>
            <a:off x="360" y="6551640"/>
            <a:ext cx="288000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3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Open SPA vs Laparoscopic HP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pic>
        <p:nvPicPr>
          <p:cNvPr id="117" name="" descr=""/>
          <p:cNvPicPr/>
          <p:nvPr/>
        </p:nvPicPr>
        <p:blipFill>
          <a:blip r:embed="rId6"/>
          <a:stretch/>
        </p:blipFill>
        <p:spPr>
          <a:xfrm>
            <a:off x="0" y="7091640"/>
            <a:ext cx="96840" cy="67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7"/>
          <a:srcRect l="2853" t="0" r="0" b="0"/>
          <a:stretch/>
        </p:blipFill>
        <p:spPr>
          <a:xfrm>
            <a:off x="2891880" y="6890040"/>
            <a:ext cx="2250720" cy="110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9" name=""/>
          <p:cNvSpPr/>
          <p:nvPr/>
        </p:nvSpPr>
        <p:spPr>
          <a:xfrm>
            <a:off x="720" y="7992000"/>
            <a:ext cx="5143320" cy="216000"/>
          </a:xfrm>
          <a:prstGeom prst="rect">
            <a:avLst/>
          </a:prstGeom>
          <a:solidFill>
            <a:srgbClr val="afd095"/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3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CONCLUSIONS</a:t>
            </a:r>
            <a:endParaRPr b="1" lang="en-US" sz="13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20" name=""/>
          <p:cNvSpPr/>
          <p:nvPr/>
        </p:nvSpPr>
        <p:spPr>
          <a:xfrm>
            <a:off x="720" y="5939640"/>
            <a:ext cx="1656000" cy="216000"/>
          </a:xfrm>
          <a:prstGeom prst="rect">
            <a:avLst/>
          </a:prstGeom>
          <a:solidFill>
            <a:srgbClr val="ffe8d0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0" rIns="0" tIns="36000" bIns="36000" anchor="ctr">
            <a:noAutofit/>
          </a:bodyPr>
          <a:p>
            <a:pPr algn="ctr"/>
            <a:r>
              <a:rPr b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INCISIONAL HERNIA</a:t>
            </a:r>
            <a:endParaRPr b="1" lang="en-US" sz="12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21" name=""/>
          <p:cNvSpPr/>
          <p:nvPr/>
        </p:nvSpPr>
        <p:spPr>
          <a:xfrm>
            <a:off x="720" y="6155640"/>
            <a:ext cx="1656000" cy="179640"/>
          </a:xfrm>
          <a:prstGeom prst="rect">
            <a:avLst/>
          </a:prstGeom>
          <a:solidFill>
            <a:srgbClr val="ffffff"/>
          </a:solidFill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36000" rIns="36000" tIns="36000" bIns="36000" anchor="ctr">
            <a:noAutofit/>
          </a:bodyPr>
          <a:p>
            <a:pPr algn="ctr"/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19% </a:t>
            </a:r>
            <a:r>
              <a:rPr b="0" i="1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vs </a:t>
            </a: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Ubuntu"/>
              </a:rPr>
              <a:t>21% ; p = 0.9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22" name=""/>
          <p:cNvSpPr/>
          <p:nvPr/>
        </p:nvSpPr>
        <p:spPr>
          <a:xfrm flipV="1">
            <a:off x="2880000" y="6767280"/>
            <a:ext cx="2264040" cy="122400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23" name=""/>
          <p:cNvSpPr/>
          <p:nvPr/>
        </p:nvSpPr>
        <p:spPr>
          <a:xfrm flipV="1">
            <a:off x="360" y="6767280"/>
            <a:ext cx="2880000" cy="1224000"/>
          </a:xfrm>
          <a:prstGeom prst="rect">
            <a:avLst/>
          </a:prstGeom>
          <a:noFill/>
          <a:ln w="0">
            <a:solidFill>
              <a:srgbClr val="ff860d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24" name=""/>
          <p:cNvSpPr/>
          <p:nvPr/>
        </p:nvSpPr>
        <p:spPr>
          <a:xfrm>
            <a:off x="360" y="8208000"/>
            <a:ext cx="5143320" cy="432000"/>
          </a:xfrm>
          <a:prstGeom prst="rect">
            <a:avLst/>
          </a:prstGeom>
          <a:noFill/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marL="72000" indent="-72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Despite similar perioperative outcomes, Laparoscopic Hartmann </a:t>
            </a:r>
            <a:r>
              <a:rPr b="1" lang="en-US" sz="95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leads to worse stoma-free survival</a:t>
            </a:r>
            <a:r>
              <a:rPr b="0" lang="en-US" sz="95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 than Open Sigmoïdectomy with Primary Anastomosis and Ileostomy 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  <p:sp>
        <p:nvSpPr>
          <p:cNvPr id="125" name=""/>
          <p:cNvSpPr/>
          <p:nvPr/>
        </p:nvSpPr>
        <p:spPr>
          <a:xfrm>
            <a:off x="360" y="8640000"/>
            <a:ext cx="5143320" cy="504000"/>
          </a:xfrm>
          <a:prstGeom prst="rect">
            <a:avLst/>
          </a:prstGeom>
          <a:solidFill>
            <a:srgbClr val="dde8cb"/>
          </a:solidFill>
          <a:ln w="0">
            <a:solidFill>
              <a:srgbClr val="355269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 anchorCtr="1">
            <a:noAutofit/>
          </a:bodyPr>
          <a:p>
            <a:pPr marL="72000" indent="-72000"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Open sigmoidectomy with primary anastomosis and protective ileostomy 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remains the </a:t>
            </a:r>
            <a:r>
              <a:rPr b="1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reference procedure</a:t>
            </a: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Ubuntu"/>
                <a:ea typeface="GillSans"/>
              </a:rPr>
              <a:t> for Hinchey III–IV diverticular peritonitis.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Ubuntu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LibreOffice/25.8.0.4$MacOSX_AARCH64 LibreOffice_project/48f00303701489684e67c38c28aff00cd5929e67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2020-08-26T11:17:44Z</dcterms:created>
  <dc:creator>Kristýna Slavíčková</dc:creator>
  <dc:description/>
  <dc:language>fr-FR</dc:language>
  <cp:lastModifiedBy/>
  <dcterms:modified xsi:type="dcterms:W3CDTF">2025-09-01T12:54:58Z</dcterms:modified>
  <cp:revision>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0x010100AE032575AFEF6A468913E3ECE28A154D</vt:lpwstr>
  </property>
  <property fmtid="{D5CDD505-2E9C-101B-9397-08002B2CF9AE}" pid="3" name="MediaServiceImageTags">
    <vt:lpwstr/>
  </property>
</Properties>
</file>